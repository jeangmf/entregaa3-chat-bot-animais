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A0B4-13E0-F08D-1B1D-291B902E44C2}" v="268" dt="2025-09-26T00:55:2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50" d="100"/>
          <a:sy n="50" d="100"/>
        </p:scale>
        <p:origin x="288" y="-7254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ILTON DE JESUS CERQUEIRA JUNIOR" userId="S::adailton.cerqueira@ulife.com.br::4fde272d-0841-4e9c-8bd1-5d76f6d1716c" providerId="AD" clId="Web-{04DFA0B4-13E0-F08D-1B1D-291B902E44C2}"/>
    <pc:docChg chg="modSld">
      <pc:chgData name="ADAILTON DE JESUS CERQUEIRA JUNIOR" userId="S::adailton.cerqueira@ulife.com.br::4fde272d-0841-4e9c-8bd1-5d76f6d1716c" providerId="AD" clId="Web-{04DFA0B4-13E0-F08D-1B1D-291B902E44C2}" dt="2025-09-26T00:55:24.553" v="243" actId="20577"/>
      <pc:docMkLst>
        <pc:docMk/>
      </pc:docMkLst>
      <pc:sldChg chg="addSp delSp modSp">
        <pc:chgData name="ADAILTON DE JESUS CERQUEIRA JUNIOR" userId="S::adailton.cerqueira@ulife.com.br::4fde272d-0841-4e9c-8bd1-5d76f6d1716c" providerId="AD" clId="Web-{04DFA0B4-13E0-F08D-1B1D-291B902E44C2}" dt="2025-09-26T00:55:24.553" v="243" actId="20577"/>
        <pc:sldMkLst>
          <pc:docMk/>
          <pc:sldMk cId="0" sldId="257"/>
        </pc:sldMkLst>
        <pc:spChg chg="mod">
          <ac:chgData name="ADAILTON DE JESUS CERQUEIRA JUNIOR" userId="S::adailton.cerqueira@ulife.com.br::4fde272d-0841-4e9c-8bd1-5d76f6d1716c" providerId="AD" clId="Web-{04DFA0B4-13E0-F08D-1B1D-291B902E44C2}" dt="2025-09-26T00:55:24.553" v="24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7:39.551" v="7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53:14.295" v="23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8:03.584" v="78" actId="20577"/>
          <ac:spMkLst>
            <pc:docMk/>
            <pc:sldMk cId="0" sldId="257"/>
            <ac:spMk id="17" creationId="{00000000-0000-0000-0000-000000000000}"/>
          </ac:spMkLst>
        </pc:spChg>
        <pc:graphicFrameChg chg="mod modGraphic">
          <ac:chgData name="ADAILTON DE JESUS CERQUEIRA JUNIOR" userId="S::adailton.cerqueira@ulife.com.br::4fde272d-0841-4e9c-8bd1-5d76f6d1716c" providerId="AD" clId="Web-{04DFA0B4-13E0-F08D-1B1D-291B902E44C2}" dt="2025-09-26T00:51:33.832" v="200" actId="1076"/>
          <ac:graphicFrameMkLst>
            <pc:docMk/>
            <pc:sldMk cId="0" sldId="257"/>
            <ac:graphicFrameMk id="8" creationId="{00000000-0000-0000-0000-000000000000}"/>
          </ac:graphicFrameMkLst>
        </pc:graphicFrameChg>
        <pc:graphicFrameChg chg="del">
          <ac:chgData name="ADAILTON DE JESUS CERQUEIRA JUNIOR" userId="S::adailton.cerqueira@ulife.com.br::4fde272d-0841-4e9c-8bd1-5d76f6d1716c" providerId="AD" clId="Web-{04DFA0B4-13E0-F08D-1B1D-291B902E44C2}" dt="2025-09-26T00:48:25.008" v="81"/>
          <ac:graphicFrameMkLst>
            <pc:docMk/>
            <pc:sldMk cId="0" sldId="257"/>
            <ac:graphicFrameMk id="10" creationId="{00000000-0000-0000-0000-000000000000}"/>
          </ac:graphicFrameMkLst>
        </pc:graphicFrameChg>
        <pc:picChg chg="add del mod">
          <ac:chgData name="ADAILTON DE JESUS CERQUEIRA JUNIOR" userId="S::adailton.cerqueira@ulife.com.br::4fde272d-0841-4e9c-8bd1-5d76f6d1716c" providerId="AD" clId="Web-{04DFA0B4-13E0-F08D-1B1D-291B902E44C2}" dt="2025-09-26T00:31:41.045" v="9"/>
          <ac:picMkLst>
            <pc:docMk/>
            <pc:sldMk cId="0" sldId="257"/>
            <ac:picMk id="6" creationId="{2F7AA305-31C1-24B8-58D8-4A041008685B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36.697" v="21" actId="1076"/>
          <ac:picMkLst>
            <pc:docMk/>
            <pc:sldMk cId="0" sldId="257"/>
            <ac:picMk id="7" creationId="{DE0425B4-4BBE-4119-F4E3-54908A697293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43.447" v="22" actId="1076"/>
          <ac:picMkLst>
            <pc:docMk/>
            <pc:sldMk cId="0" sldId="257"/>
            <ac:picMk id="11" creationId="{16012876-1C84-8DE5-9B13-5905E424B1C3}"/>
          </ac:picMkLst>
        </pc:picChg>
        <pc:picChg chg="del">
          <ac:chgData name="ADAILTON DE JESUS CERQUEIRA JUNIOR" userId="S::adailton.cerqueira@ulife.com.br::4fde272d-0841-4e9c-8bd1-5d76f6d1716c" providerId="AD" clId="Web-{04DFA0B4-13E0-F08D-1B1D-291B902E44C2}" dt="2025-09-26T00:28:06.861" v="0"/>
          <ac:picMkLst>
            <pc:docMk/>
            <pc:sldMk cId="0" sldId="257"/>
            <ac:picMk id="12" creationId="{00000000-0000-0000-0000-000000000000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53:20.404" v="233" actId="1076"/>
          <ac:picMkLst>
            <pc:docMk/>
            <pc:sldMk cId="0" sldId="257"/>
            <ac:picMk id="13" creationId="{22B7F8E9-EA4A-C4A3-891A-40C2F5F772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9600" dirty="0"/>
              <a:t>Desenvolvimento de um </a:t>
            </a:r>
            <a:r>
              <a:rPr lang="pt-BR" sz="9600" dirty="0" err="1"/>
              <a:t>Chatbot</a:t>
            </a:r>
            <a:r>
              <a:rPr lang="pt-BR" sz="9600" dirty="0"/>
              <a:t> de Perguntas e Respostas sobre Zoologia Utilizando Processamento de Linguagem Natural (PLN)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Jean Nilson; Fábio Gonçalves; Daniel Mendonça; Mateus Bonfim; Adailton de Jesus Cerqueira Junior.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970852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A Inteligência Artificial (IA) tem transformado a maneira como interagimos com sistemas computacionais. Dentro deste campo, o Processamento de Linguagem Natural (PLN) permite que máquinas compreendam e processem a linguagem humana. Este trabalho apresenta o desenvolvimento de um </a:t>
            </a:r>
            <a:r>
              <a:rPr lang="pt-BR" sz="3200" i="1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focado em zoologia, capaz de responder perguntas sobre características, habitat e curiosidades de animais. A relevância deste projeto reside na aplicação prática de algoritmos de similaridade vetorial para criar interfaces de conversação intuitivas e capazes de aprendizado contínuo, cumprindo o desafio proposto de aplicar técnicas de IA em um problema real.</a:t>
            </a: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OBJETIVO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O objetivo principal deste trabalho é desenvolver um agente conversacional (</a:t>
            </a:r>
            <a:r>
              <a:rPr lang="pt-BR" sz="3200" i="1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) capaz de interpretar perguntas em linguagem natural sobre o reino animal e fornecer respostas precisas baseadas em uma base de conhecimento pré-definida. Os objetivos específicos incluem: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-Aplicar a técnica de vetorização TF-IDF (</a:t>
            </a:r>
            <a:r>
              <a:rPr lang="pt-BR" sz="3200" i="1" dirty="0" err="1">
                <a:solidFill>
                  <a:schemeClr val="tx1"/>
                </a:solidFill>
              </a:rPr>
              <a:t>Term</a:t>
            </a:r>
            <a:r>
              <a:rPr lang="pt-BR" sz="3200" i="1" dirty="0">
                <a:solidFill>
                  <a:schemeClr val="tx1"/>
                </a:solidFill>
              </a:rPr>
              <a:t> Frequency-</a:t>
            </a:r>
            <a:r>
              <a:rPr lang="pt-BR" sz="3200" i="1" dirty="0" err="1">
                <a:solidFill>
                  <a:schemeClr val="tx1"/>
                </a:solidFill>
              </a:rPr>
              <a:t>Inverse</a:t>
            </a:r>
            <a:r>
              <a:rPr lang="pt-BR" sz="3200" i="1" dirty="0">
                <a:solidFill>
                  <a:schemeClr val="tx1"/>
                </a:solidFill>
              </a:rPr>
              <a:t> </a:t>
            </a:r>
            <a:r>
              <a:rPr lang="pt-BR" sz="3200" i="1" dirty="0" err="1">
                <a:solidFill>
                  <a:schemeClr val="tx1"/>
                </a:solidFill>
              </a:rPr>
              <a:t>Document</a:t>
            </a:r>
            <a:r>
              <a:rPr lang="pt-BR" sz="3200" i="1" dirty="0">
                <a:solidFill>
                  <a:schemeClr val="tx1"/>
                </a:solidFill>
              </a:rPr>
              <a:t> Frequency</a:t>
            </a:r>
            <a:r>
              <a:rPr lang="pt-BR" sz="3200" dirty="0">
                <a:solidFill>
                  <a:schemeClr val="tx1"/>
                </a:solidFill>
              </a:rPr>
              <a:t>) para representação numérica de textos.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-Implementar o cálculo de Similaridade de Cosseno para medir a correspondência entre a pergunta do usuário e a base de dados.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-Desenvolver um mecanismo de aprendizado supervisionado simples, onde o usuário pode ensinar novas respostas ao </a:t>
            </a:r>
            <a:r>
              <a:rPr lang="pt-BR" sz="3200" i="1" dirty="0" err="1">
                <a:solidFill>
                  <a:schemeClr val="tx1"/>
                </a:solidFill>
              </a:rPr>
              <a:t>bot</a:t>
            </a:r>
            <a:r>
              <a:rPr lang="pt-BR" sz="3200" dirty="0">
                <a:solidFill>
                  <a:schemeClr val="tx1"/>
                </a:solidFill>
              </a:rPr>
              <a:t> em tempo de execução.</a:t>
            </a: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MÉTODOS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O sistema foi desenvolvido na linguagem Python, utilizando as bibliotecas </a:t>
            </a:r>
            <a:r>
              <a:rPr lang="pt-BR" sz="3200" i="1" dirty="0" err="1">
                <a:solidFill>
                  <a:schemeClr val="tx1"/>
                </a:solidFill>
              </a:rPr>
              <a:t>Scikit-learn</a:t>
            </a:r>
            <a:r>
              <a:rPr lang="pt-BR" sz="3200" dirty="0">
                <a:solidFill>
                  <a:schemeClr val="tx1"/>
                </a:solidFill>
              </a:rPr>
              <a:t> e </a:t>
            </a:r>
            <a:r>
              <a:rPr lang="pt-BR" sz="3200" i="1" dirty="0">
                <a:solidFill>
                  <a:schemeClr val="tx1"/>
                </a:solidFill>
              </a:rPr>
              <a:t>NLTK</a:t>
            </a:r>
            <a:r>
              <a:rPr lang="pt-BR" sz="3200" dirty="0">
                <a:solidFill>
                  <a:schemeClr val="tx1"/>
                </a:solidFill>
              </a:rPr>
              <a:t>. A arquitetura da solução segue quatro etapas: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-Pré-processamento e Normalização:</a:t>
            </a:r>
            <a:r>
              <a:rPr lang="pt-BR" sz="3200" dirty="0">
                <a:solidFill>
                  <a:schemeClr val="tx1"/>
                </a:solidFill>
              </a:rPr>
              <a:t> O texto de entrada passa por remoção de acentos e conversão para caixa baixa (minúsculas), garantindo que variações como "Leão" e "</a:t>
            </a:r>
            <a:r>
              <a:rPr lang="pt-BR" sz="3200" dirty="0" err="1">
                <a:solidFill>
                  <a:schemeClr val="tx1"/>
                </a:solidFill>
              </a:rPr>
              <a:t>leao</a:t>
            </a:r>
            <a:r>
              <a:rPr lang="pt-BR" sz="3200" dirty="0">
                <a:solidFill>
                  <a:schemeClr val="tx1"/>
                </a:solidFill>
              </a:rPr>
              <a:t>" sejam tratadas igualmente.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-Vetorização (TF-IDF):</a:t>
            </a:r>
            <a:r>
              <a:rPr lang="pt-BR" sz="3200" dirty="0">
                <a:solidFill>
                  <a:schemeClr val="tx1"/>
                </a:solidFill>
              </a:rPr>
              <a:t> As frases são convertidas em vetores numéricos. O algoritmo TF-IDF atribui pesos às palavras, diminuindo a relevância de termos comuns (como artigos e preposições) e valorizando termos chave (como "animal", "venenoso", "baleia").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-Cálculo de Similaridade:</a:t>
            </a:r>
            <a:r>
              <a:rPr lang="pt-BR" sz="3200" dirty="0">
                <a:solidFill>
                  <a:schemeClr val="tx1"/>
                </a:solidFill>
              </a:rPr>
              <a:t> Utilizamos a </a:t>
            </a:r>
            <a:r>
              <a:rPr lang="pt-BR" sz="3200" b="1" dirty="0">
                <a:solidFill>
                  <a:schemeClr val="tx1"/>
                </a:solidFill>
              </a:rPr>
              <a:t>Similaridade de Cosseno</a:t>
            </a:r>
            <a:r>
              <a:rPr lang="pt-BR" sz="3200" dirty="0">
                <a:solidFill>
                  <a:schemeClr val="tx1"/>
                </a:solidFill>
              </a:rPr>
              <a:t> para calcular o ângulo entre o vetor da pergunta do usuário e os vetores das perguntas armazenadas. Quanto menor o ângulo, maior a semelhança (score próximo de 1.0).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-Tomada de Decisão e Aprendizado:</a:t>
            </a:r>
            <a:r>
              <a:rPr lang="pt-BR" sz="3200" dirty="0">
                <a:solidFill>
                  <a:schemeClr val="tx1"/>
                </a:solidFill>
              </a:rPr>
              <a:t> Se a confiança da resposta for superior a 0.4 (40%), o </a:t>
            </a:r>
            <a:r>
              <a:rPr lang="pt-BR" sz="3200" i="1" dirty="0" err="1">
                <a:solidFill>
                  <a:schemeClr val="tx1"/>
                </a:solidFill>
              </a:rPr>
              <a:t>bot</a:t>
            </a:r>
            <a:r>
              <a:rPr lang="pt-BR" sz="3200" dirty="0">
                <a:solidFill>
                  <a:schemeClr val="tx1"/>
                </a:solidFill>
              </a:rPr>
              <a:t> responde. Caso contrário, solicita ao usuário a resposta correta e a grava no arquivo base_conhecimento.txt, expandindo sua inteligência automaticamente.</a:t>
            </a:r>
          </a:p>
          <a:p>
            <a:pPr algn="l">
              <a:spcBef>
                <a:spcPts val="0"/>
              </a:spcBef>
            </a:pPr>
            <a:endParaRPr lang="pt-BR" sz="24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</a:t>
            </a:r>
            <a:r>
              <a:rPr lang="pt-BR" sz="3200" i="1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demonstrou eficácia na identificação de perguntas mesmo com variações na construção da frase. Os testes mostraram que o algoritmo de Similaridade de Cosseno supera a simples correspondência de palavras-chave, permitindo uma interação mais fluida.</a:t>
            </a: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2176232"/>
            <a:ext cx="15576604" cy="24332124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 dirty="0"/>
              <a:t>Tabela 1 – Exemplo de Confiança do </a:t>
            </a:r>
            <a:r>
              <a:rPr lang="pt-BR" sz="4400" b="1" dirty="0" err="1"/>
              <a:t>Algoritimo</a:t>
            </a:r>
            <a:r>
              <a:rPr lang="pt-BR" sz="4400" b="1" dirty="0"/>
              <a:t>.</a:t>
            </a:r>
            <a:endParaRPr lang="pt-BR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r>
              <a:rPr lang="pt-BR" sz="4400" b="1" dirty="0"/>
              <a:t>Figura 1 - Execução do </a:t>
            </a:r>
            <a:r>
              <a:rPr lang="pt-BR" sz="4400" b="1" dirty="0" err="1"/>
              <a:t>Chatbot</a:t>
            </a:r>
            <a:r>
              <a:rPr lang="pt-BR" sz="4400" b="1" dirty="0"/>
              <a:t> no terminal demonstrando o fluxo de perguntas e aprendizado.</a:t>
            </a:r>
          </a:p>
          <a:p>
            <a:pPr algn="just">
              <a:spcBef>
                <a:spcPts val="0"/>
              </a:spcBef>
            </a:pPr>
            <a:endParaRPr lang="pt-BR" sz="44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/>
            <a:endParaRPr lang="pt-BR" sz="9600" b="1" dirty="0"/>
          </a:p>
          <a:p>
            <a:pPr algn="just"/>
            <a:endParaRPr lang="pt-BR" sz="9600" b="1" dirty="0"/>
          </a:p>
          <a:p>
            <a:pPr algn="just">
              <a:spcBef>
                <a:spcPts val="0"/>
              </a:spcBef>
            </a:pPr>
            <a:r>
              <a:rPr lang="pt-BR" sz="6600" b="1" dirty="0"/>
              <a:t>CONCLUSÃO</a:t>
            </a:r>
            <a:endParaRPr lang="pt-BR" sz="9600" b="1" dirty="0"/>
          </a:p>
          <a:p>
            <a:pPr algn="just"/>
            <a:r>
              <a:rPr lang="pt-BR" sz="3200" dirty="0"/>
              <a:t>Conclui-se que a aplicação de técnicas de Álgebra Linear (Vetores) e Estatística (TF-IDF) é viável e eficiente para a criação de </a:t>
            </a:r>
            <a:r>
              <a:rPr lang="pt-BR" sz="3200" i="1" dirty="0" err="1"/>
              <a:t>chatbots</a:t>
            </a:r>
            <a:r>
              <a:rPr lang="pt-BR" sz="3200" dirty="0"/>
              <a:t> de domínio específico. A solução atendeu aos requisitos de funcionamento correto e criatividade, entregando um sistema que não apenas responde, mas evolui com o uso. O projeto consolidou o entendimento prático sobre como máquinas interpretam a linguagem humana através de representações matemáticas.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67412"/>
              </p:ext>
            </p:extLst>
          </p:nvPr>
        </p:nvGraphicFramePr>
        <p:xfrm>
          <a:off x="16721330" y="13245590"/>
          <a:ext cx="14185348" cy="40276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8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Pergunta do Usuário (Input)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Pergunta na Base (Match)</a:t>
                      </a:r>
                      <a:endParaRPr lang="pt-BR" sz="3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Confiança (Score)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Resultado</a:t>
                      </a:r>
                      <a:endParaRPr lang="pt-BR" sz="3200" b="1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algn="l" fontAlgn="ctr"/>
                      <a:r>
                        <a:rPr lang="pt-BR" sz="3200" dirty="0"/>
                        <a:t>"qual o maior animal"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"qual o maior animal do mundo"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0.89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Sucesso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dirty="0"/>
                        <a:t>"onde o </a:t>
                      </a:r>
                      <a:r>
                        <a:rPr lang="pt-BR" sz="3200" dirty="0" err="1"/>
                        <a:t>leao</a:t>
                      </a:r>
                      <a:r>
                        <a:rPr lang="pt-BR" sz="3200" dirty="0"/>
                        <a:t> mora"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"onde vive o </a:t>
                      </a:r>
                      <a:r>
                        <a:rPr lang="pt-BR" sz="3200" dirty="0" err="1"/>
                        <a:t>leao</a:t>
                      </a:r>
                      <a:r>
                        <a:rPr lang="pt-BR" sz="3200" dirty="0"/>
                        <a:t>"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0.72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Sucesso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dirty="0"/>
                        <a:t>"o sapo voa?"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(Não existente na base)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0.00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Aprendizado ativado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ubtítulo 2"/>
          <p:cNvSpPr txBox="1">
            <a:spLocks/>
          </p:cNvSpPr>
          <p:nvPr/>
        </p:nvSpPr>
        <p:spPr>
          <a:xfrm>
            <a:off x="861805" y="36508356"/>
            <a:ext cx="30749932" cy="590338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1. </a:t>
            </a:r>
            <a:r>
              <a:rPr lang="pt-BR" sz="2400" dirty="0">
                <a:solidFill>
                  <a:schemeClr val="tx1"/>
                </a:solidFill>
              </a:rPr>
              <a:t>BIRD, Steven; KLEIN, Ewan; LOPER, Edward. </a:t>
            </a:r>
            <a:r>
              <a:rPr lang="pt-BR" sz="2400" b="1" dirty="0">
                <a:solidFill>
                  <a:schemeClr val="tx1"/>
                </a:solidFill>
              </a:rPr>
              <a:t>Natural </a:t>
            </a:r>
            <a:r>
              <a:rPr lang="pt-BR" sz="2400" b="1" dirty="0" err="1">
                <a:solidFill>
                  <a:schemeClr val="tx1"/>
                </a:solidFill>
              </a:rPr>
              <a:t>Language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err="1">
                <a:solidFill>
                  <a:schemeClr val="tx1"/>
                </a:solidFill>
              </a:rPr>
              <a:t>Processing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err="1">
                <a:solidFill>
                  <a:schemeClr val="tx1"/>
                </a:solidFill>
              </a:rPr>
              <a:t>with</a:t>
            </a:r>
            <a:r>
              <a:rPr lang="pt-BR" sz="2400" b="1" dirty="0">
                <a:solidFill>
                  <a:schemeClr val="tx1"/>
                </a:solidFill>
              </a:rPr>
              <a:t> Python</a:t>
            </a:r>
            <a:r>
              <a:rPr lang="pt-BR" sz="2400" dirty="0">
                <a:solidFill>
                  <a:schemeClr val="tx1"/>
                </a:solidFill>
              </a:rPr>
              <a:t>. O'Reilly Media, 2009.</a:t>
            </a:r>
            <a:endParaRPr lang="pt-BR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24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2. </a:t>
            </a:r>
            <a:r>
              <a:rPr lang="en-US" sz="2400" dirty="0">
                <a:solidFill>
                  <a:schemeClr val="tx1"/>
                </a:solidFill>
              </a:rPr>
              <a:t>PEDREGOSA, F. et al. Scikit-learn: Machine Learning in Python. </a:t>
            </a:r>
            <a:r>
              <a:rPr lang="en-US" sz="2400" b="1" dirty="0">
                <a:solidFill>
                  <a:schemeClr val="tx1"/>
                </a:solidFill>
              </a:rPr>
              <a:t>Journal of Machine Learning Research</a:t>
            </a:r>
            <a:r>
              <a:rPr lang="en-US" sz="2400" dirty="0">
                <a:solidFill>
                  <a:schemeClr val="tx1"/>
                </a:solidFill>
              </a:rPr>
              <a:t>, v. 12, p. 2825-2830, 2011.</a:t>
            </a:r>
            <a:endParaRPr lang="pt-BR" sz="24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</a:rPr>
              <a:t>3. </a:t>
            </a:r>
            <a:r>
              <a:rPr lang="en-US" sz="2400" dirty="0">
                <a:solidFill>
                  <a:schemeClr val="tx1"/>
                </a:solidFill>
              </a:rPr>
              <a:t>MANNING, C. D.; RAGHAVAN, P.; SCHÜTZE, H. </a:t>
            </a:r>
            <a:r>
              <a:rPr lang="en-US" sz="2400" b="1" dirty="0">
                <a:solidFill>
                  <a:schemeClr val="tx1"/>
                </a:solidFill>
              </a:rPr>
              <a:t>Introduction to Information Retrieval</a:t>
            </a:r>
            <a:r>
              <a:rPr lang="en-US" sz="2400" dirty="0">
                <a:solidFill>
                  <a:schemeClr val="tx1"/>
                </a:solidFill>
              </a:rPr>
              <a:t>. Cambridge University Press, 2008.</a:t>
            </a:r>
            <a:endParaRPr lang="pt-BR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28309E3-DEDC-7530-2A5F-0965232AA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065" y="19081784"/>
            <a:ext cx="14185347" cy="5889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744</Words>
  <Application>Microsoft Office PowerPoint</Application>
  <PresentationFormat>Personalizar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Desenvolvimento de um Chatbot de Perguntas e Respostas sobre Zoologia Utilizando Processamento de Linguagem Natural (PLN)  Jean Nilson; Fábio Gonçalves; Daniel Mendonça; Mateus Bonfim; Adailton de Jesus Cerqueira Junior.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Jean Nilson</cp:lastModifiedBy>
  <cp:revision>152</cp:revision>
  <dcterms:created xsi:type="dcterms:W3CDTF">2011-04-07T11:05:01Z</dcterms:created>
  <dcterms:modified xsi:type="dcterms:W3CDTF">2025-11-21T01:01:00Z</dcterms:modified>
</cp:coreProperties>
</file>