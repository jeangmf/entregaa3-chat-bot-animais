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32404050" cy="43205400"/>
  <p:notesSz cx="6858000" cy="9144000"/>
  <p:defaultTextStyle>
    <a:defPPr>
      <a:defRPr lang="pt-BR"/>
    </a:defPPr>
    <a:lvl1pPr mar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FA0B4-13E0-F08D-1B1D-291B902E44C2}" v="268" dt="2025-09-26T00:55:24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759" autoAdjust="0"/>
    <p:restoredTop sz="95287" autoAdjust="0"/>
  </p:normalViewPr>
  <p:slideViewPr>
    <p:cSldViewPr>
      <p:cViewPr>
        <p:scale>
          <a:sx n="25" d="100"/>
          <a:sy n="25" d="100"/>
        </p:scale>
        <p:origin x="1098" y="-738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115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  <a:pPr/>
              <a:t>21/11/2025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  <a:pPr/>
              <a:t>21/11/2025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203" indent="-1620203" algn="l" defTabSz="432054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439" indent="-1350169" algn="l" defTabSz="4320540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-288332"/>
            <a:ext cx="32412863" cy="432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96254" y="11233548"/>
            <a:ext cx="14785564" cy="24537504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INTRODUÇÃO</a:t>
            </a:r>
            <a:endParaRPr lang="pt-BR" sz="75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A Inteligência Artificial (IA) tem transformado a maneira como interagimos com sistemas computacionais. Dentro deste campo, o Processamento de Linguagem Natural (PLN) permite que máquinas compreendam e processem a linguagem humana. Este trabalho apresenta o desenvolvimento de um </a:t>
            </a:r>
            <a:r>
              <a:rPr lang="pt-BR" sz="3200" i="1" dirty="0" err="1">
                <a:solidFill>
                  <a:schemeClr val="tx1"/>
                </a:solidFill>
              </a:rPr>
              <a:t>chatbot</a:t>
            </a:r>
            <a:r>
              <a:rPr lang="pt-BR" sz="3200" dirty="0">
                <a:solidFill>
                  <a:schemeClr val="tx1"/>
                </a:solidFill>
              </a:rPr>
              <a:t> focado em zoologia, capaz de responder perguntas sobre características, habitat e curiosidades de animais. A relevância deste projeto reside na aplicação prática de algoritmos de similaridade vetorial para criar interfaces de conversação intuitivas e capazes de aprendizado contínuo, cumprindo o desafio proposto de aplicar técnicas de IA em um problema real.</a:t>
            </a: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OBJETIVO</a:t>
            </a:r>
            <a:endParaRPr lang="pt-BR" sz="7500" b="1" dirty="0">
              <a:solidFill>
                <a:schemeClr val="tx1"/>
              </a:solidFill>
            </a:endParaRPr>
          </a:p>
          <a:p>
            <a:pPr algn="l"/>
            <a:r>
              <a:rPr lang="pt-BR" sz="3200" dirty="0">
                <a:solidFill>
                  <a:schemeClr val="tx1"/>
                </a:solidFill>
              </a:rPr>
              <a:t>O objetivo principal deste trabalho é desenvolver um agente conversacional (</a:t>
            </a:r>
            <a:r>
              <a:rPr lang="pt-BR" sz="3200" i="1" dirty="0">
                <a:solidFill>
                  <a:schemeClr val="tx1"/>
                </a:solidFill>
              </a:rPr>
              <a:t>chatbot</a:t>
            </a:r>
            <a:r>
              <a:rPr lang="pt-BR" sz="3200" dirty="0">
                <a:solidFill>
                  <a:schemeClr val="tx1"/>
                </a:solidFill>
              </a:rPr>
              <a:t>) capaz de interpretar perguntas em linguagem natural sobre o reino animal e fornecer respostas precisas baseadas em uma base de conhecimento pré-definida. Os objetivos específicos incluem:</a:t>
            </a:r>
          </a:p>
          <a:p>
            <a:pPr algn="l"/>
            <a:r>
              <a:rPr lang="pt-BR" sz="3200" dirty="0">
                <a:solidFill>
                  <a:schemeClr val="tx1"/>
                </a:solidFill>
              </a:rPr>
              <a:t>- Aplicar a técnica de vetorização TF-IDF (</a:t>
            </a:r>
            <a:r>
              <a:rPr lang="pt-BR" sz="3200" i="1" dirty="0">
                <a:solidFill>
                  <a:schemeClr val="tx1"/>
                </a:solidFill>
              </a:rPr>
              <a:t>Term Frequency-Inverse Document Frequency</a:t>
            </a:r>
            <a:r>
              <a:rPr lang="pt-BR" sz="3200" dirty="0">
                <a:solidFill>
                  <a:schemeClr val="tx1"/>
                </a:solidFill>
              </a:rPr>
              <a:t>) para representação numérica de textos.</a:t>
            </a:r>
          </a:p>
          <a:p>
            <a:pPr algn="l"/>
            <a:r>
              <a:rPr lang="pt-BR" sz="3200" dirty="0">
                <a:solidFill>
                  <a:schemeClr val="tx1"/>
                </a:solidFill>
              </a:rPr>
              <a:t>- Implementar o cálculo de Similaridade de Cosseno para medir a correspondência entre a pergunta do usuário e a base de dados.</a:t>
            </a:r>
          </a:p>
          <a:p>
            <a:pPr algn="l"/>
            <a:r>
              <a:rPr lang="pt-BR" sz="3200" dirty="0">
                <a:solidFill>
                  <a:schemeClr val="tx1"/>
                </a:solidFill>
              </a:rPr>
              <a:t>- Desenvolver um mecanismo de aprendizado supervisionado simples, onde o usuário pode ensinar novas respostas ao </a:t>
            </a:r>
            <a:r>
              <a:rPr lang="pt-BR" sz="3200" i="1" dirty="0">
                <a:solidFill>
                  <a:schemeClr val="tx1"/>
                </a:solidFill>
              </a:rPr>
              <a:t>bot</a:t>
            </a:r>
            <a:r>
              <a:rPr lang="pt-BR" sz="3200" dirty="0">
                <a:solidFill>
                  <a:schemeClr val="tx1"/>
                </a:solidFill>
              </a:rPr>
              <a:t> em tempo de execução.</a:t>
            </a:r>
          </a:p>
          <a:p>
            <a:pPr algn="l"/>
            <a:endParaRPr lang="pt-BR" sz="32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MÉTODOS</a:t>
            </a:r>
            <a:endParaRPr lang="pt-BR" sz="7500" b="1" dirty="0">
              <a:solidFill>
                <a:schemeClr val="tx1"/>
              </a:solidFill>
            </a:endParaRPr>
          </a:p>
          <a:p>
            <a:pPr algn="l"/>
            <a:r>
              <a:rPr lang="pt-BR" sz="3200" dirty="0">
                <a:solidFill>
                  <a:schemeClr val="tx1"/>
                </a:solidFill>
              </a:rPr>
              <a:t>O sistema foi desenvolvido na linguagem Python, utilizando as bibliotecas </a:t>
            </a:r>
            <a:r>
              <a:rPr lang="pt-BR" sz="3200" i="1" dirty="0" err="1">
                <a:solidFill>
                  <a:schemeClr val="tx1"/>
                </a:solidFill>
              </a:rPr>
              <a:t>Scikit-learn</a:t>
            </a:r>
            <a:r>
              <a:rPr lang="pt-BR" sz="3200" dirty="0">
                <a:solidFill>
                  <a:schemeClr val="tx1"/>
                </a:solidFill>
              </a:rPr>
              <a:t> e </a:t>
            </a:r>
            <a:r>
              <a:rPr lang="pt-BR" sz="3200" i="1" dirty="0">
                <a:solidFill>
                  <a:schemeClr val="tx1"/>
                </a:solidFill>
              </a:rPr>
              <a:t>NLTK</a:t>
            </a:r>
            <a:r>
              <a:rPr lang="pt-BR" sz="3200" dirty="0">
                <a:solidFill>
                  <a:schemeClr val="tx1"/>
                </a:solidFill>
              </a:rPr>
              <a:t>. A arquitetura da solução segue quatro etapas:</a:t>
            </a:r>
          </a:p>
          <a:p>
            <a:pPr algn="l"/>
            <a:r>
              <a:rPr lang="pt-BR" sz="3200" b="1" dirty="0">
                <a:solidFill>
                  <a:schemeClr val="tx1"/>
                </a:solidFill>
              </a:rPr>
              <a:t>- Pré-processamento e Normalização:</a:t>
            </a:r>
            <a:r>
              <a:rPr lang="pt-BR" sz="3200" dirty="0">
                <a:solidFill>
                  <a:schemeClr val="tx1"/>
                </a:solidFill>
              </a:rPr>
              <a:t> O texto de entrada passa por remoção de acentos e conversão para caixa baixa (minúsculas), garantindo que variações como "Leão" e "leao" sejam tratadas igualmente.</a:t>
            </a:r>
          </a:p>
          <a:p>
            <a:pPr algn="l"/>
            <a:r>
              <a:rPr lang="pt-BR" sz="3200" b="1" dirty="0">
                <a:solidFill>
                  <a:schemeClr val="tx1"/>
                </a:solidFill>
              </a:rPr>
              <a:t>- Vetorização (TF-IDF):</a:t>
            </a:r>
            <a:r>
              <a:rPr lang="pt-BR" sz="3200" dirty="0">
                <a:solidFill>
                  <a:schemeClr val="tx1"/>
                </a:solidFill>
              </a:rPr>
              <a:t> As frases são convertidas em vetores numéricos. O algoritmo TF-IDF atribui pesos às palavras, diminuindo a relevância de termos comuns (como artigos e preposições) e valorizando termos chave (como "animal", "venenoso", "baleia").</a:t>
            </a:r>
          </a:p>
          <a:p>
            <a:pPr algn="l"/>
            <a:r>
              <a:rPr lang="pt-BR" sz="3200" b="1" dirty="0">
                <a:solidFill>
                  <a:schemeClr val="tx1"/>
                </a:solidFill>
              </a:rPr>
              <a:t>- Cálculo de Similaridade:</a:t>
            </a:r>
            <a:r>
              <a:rPr lang="pt-BR" sz="3200" dirty="0">
                <a:solidFill>
                  <a:schemeClr val="tx1"/>
                </a:solidFill>
              </a:rPr>
              <a:t> Utilizamos a </a:t>
            </a:r>
            <a:r>
              <a:rPr lang="pt-BR" sz="3200" b="1" dirty="0">
                <a:solidFill>
                  <a:schemeClr val="tx1"/>
                </a:solidFill>
              </a:rPr>
              <a:t>Similaridade de Cosseno</a:t>
            </a:r>
            <a:r>
              <a:rPr lang="pt-BR" sz="3200" dirty="0">
                <a:solidFill>
                  <a:schemeClr val="tx1"/>
                </a:solidFill>
              </a:rPr>
              <a:t> para calcular o ângulo entre o vetor da pergunta do usuário e os vetores das perguntas armazenadas. Quanto menor o ângulo, maior a semelhança (score próximo de 1.0).</a:t>
            </a:r>
          </a:p>
          <a:p>
            <a:pPr algn="l"/>
            <a:r>
              <a:rPr lang="pt-BR" sz="3200" b="1" dirty="0">
                <a:solidFill>
                  <a:schemeClr val="tx1"/>
                </a:solidFill>
              </a:rPr>
              <a:t>- Tomada de Decisão e Aprendizado:</a:t>
            </a:r>
            <a:r>
              <a:rPr lang="pt-BR" sz="3200" dirty="0">
                <a:solidFill>
                  <a:schemeClr val="tx1"/>
                </a:solidFill>
              </a:rPr>
              <a:t> Se a confiança da resposta for superior a 0.4 (40%), o </a:t>
            </a:r>
            <a:r>
              <a:rPr lang="pt-BR" sz="3200" i="1" dirty="0">
                <a:solidFill>
                  <a:schemeClr val="tx1"/>
                </a:solidFill>
              </a:rPr>
              <a:t>bot</a:t>
            </a:r>
            <a:r>
              <a:rPr lang="pt-BR" sz="3200" dirty="0">
                <a:solidFill>
                  <a:schemeClr val="tx1"/>
                </a:solidFill>
              </a:rPr>
              <a:t> responde. Caso contrário, solicita ao usuário a resposta correta e a grava no arquivo base_conhecimento.txt, expandindo sua inteligência automaticamente.</a:t>
            </a:r>
          </a:p>
          <a:p>
            <a:pPr algn="l">
              <a:spcBef>
                <a:spcPts val="0"/>
              </a:spcBef>
            </a:pPr>
            <a:endParaRPr lang="pt-BR" sz="24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RESULTADOS</a:t>
            </a:r>
            <a:endParaRPr lang="pt-BR" sz="7500" b="1" dirty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</a:rPr>
              <a:t>O </a:t>
            </a:r>
            <a:r>
              <a:rPr lang="pt-BR" sz="3200" i="1" dirty="0" err="1">
                <a:solidFill>
                  <a:schemeClr val="tx1"/>
                </a:solidFill>
              </a:rPr>
              <a:t>chatbot</a:t>
            </a:r>
            <a:r>
              <a:rPr lang="pt-BR" sz="3200" dirty="0">
                <a:solidFill>
                  <a:schemeClr val="tx1"/>
                </a:solidFill>
              </a:rPr>
              <a:t> demonstrou eficácia na identificação de perguntas mesmo com variações na construção da frase. Os testes mostraram que o algoritmo de Similaridade de Cosseno supera a simples correspondência de palavras-chave, permitindo uma interação mais fluida.</a:t>
            </a: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6035133" y="11438927"/>
            <a:ext cx="15576604" cy="26221557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r>
              <a:rPr lang="pt-BR" sz="4400" b="1" dirty="0"/>
              <a:t>Tabela 1 – Exemplo de Confiança do Algoritmo.</a:t>
            </a:r>
            <a:endParaRPr lang="pt-BR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endParaRPr lang="pt-BR" sz="4400" b="1" dirty="0"/>
          </a:p>
          <a:p>
            <a:r>
              <a:rPr lang="pt-BR" sz="4400" b="1" dirty="0"/>
              <a:t>Figura 1 – Execução do Chatbot no terminal demonstrando o fluxo de perguntas e aprendizado.</a:t>
            </a:r>
          </a:p>
          <a:p>
            <a:pPr algn="just">
              <a:spcBef>
                <a:spcPts val="0"/>
              </a:spcBef>
            </a:pPr>
            <a:endParaRPr lang="pt-BR" sz="44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/>
            <a:endParaRPr lang="pt-BR" sz="9600" b="1" dirty="0"/>
          </a:p>
          <a:p>
            <a:pPr algn="just"/>
            <a:endParaRPr lang="pt-BR" sz="3200" b="1" dirty="0"/>
          </a:p>
          <a:p>
            <a:pPr marL="0" marR="0" lvl="0" indent="0" algn="l" defTabSz="4320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Figura 2 – Interface de execução do Chatbot para o usuário.</a:t>
            </a:r>
          </a:p>
          <a:p>
            <a:pPr algn="just"/>
            <a:endParaRPr lang="pt-BR" sz="32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  <a:p>
            <a:pPr algn="just">
              <a:spcBef>
                <a:spcPts val="0"/>
              </a:spcBef>
            </a:pPr>
            <a:endParaRPr lang="pt-BR" sz="6600" b="1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432033"/>
              </p:ext>
            </p:extLst>
          </p:nvPr>
        </p:nvGraphicFramePr>
        <p:xfrm>
          <a:off x="16490057" y="12648837"/>
          <a:ext cx="14185348" cy="40276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13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0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881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b="1" dirty="0"/>
                        <a:t>Pergunta do Usuário (Input)</a:t>
                      </a:r>
                      <a:endParaRPr lang="pt-BR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b="1" dirty="0">
                          <a:solidFill>
                            <a:schemeClr val="tx1"/>
                          </a:solidFill>
                        </a:rPr>
                        <a:t>Pergunta na Base (Match)</a:t>
                      </a:r>
                      <a:endParaRPr lang="pt-BR" sz="32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b="1" dirty="0"/>
                        <a:t>Confiança (Score)</a:t>
                      </a:r>
                      <a:endParaRPr lang="pt-BR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b="1" dirty="0"/>
                        <a:t>Resultado</a:t>
                      </a:r>
                      <a:endParaRPr lang="pt-BR" sz="3200" b="1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935">
                <a:tc>
                  <a:txBody>
                    <a:bodyPr/>
                    <a:lstStyle/>
                    <a:p>
                      <a:pPr algn="l" fontAlgn="ctr"/>
                      <a:r>
                        <a:rPr lang="pt-BR" sz="3200" dirty="0"/>
                        <a:t>"qual o maior animal?"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"qual o maior animal do mundo"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0.89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Sucesso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293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3200" dirty="0"/>
                        <a:t>"onde o leão mora?"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"onde vive o leao"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0.72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Sucesso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293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3200" dirty="0"/>
                        <a:t>"o sapo voa?"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(Não existente na base)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0.00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dirty="0"/>
                        <a:t>Aprendizado ativado</a:t>
                      </a:r>
                      <a:endParaRPr lang="pt-BR" sz="32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Imagem 11" descr="Diagrama&#10;&#10;O conteúdo gerado por IA pode estar incorreto.">
            <a:extLst>
              <a:ext uri="{FF2B5EF4-FFF2-40B4-BE49-F238E27FC236}">
                <a16:creationId xmlns:a16="http://schemas.microsoft.com/office/drawing/2014/main" id="{DE0425B4-4BBE-4119-F4E3-54908A69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2976" y="457042"/>
            <a:ext cx="5548730" cy="4176464"/>
          </a:xfrm>
          <a:prstGeom prst="rect">
            <a:avLst/>
          </a:prstGeom>
        </p:spPr>
      </p:pic>
      <p:sp>
        <p:nvSpPr>
          <p:cNvPr id="17" name="Subtítulo 2"/>
          <p:cNvSpPr txBox="1">
            <a:spLocks/>
          </p:cNvSpPr>
          <p:nvPr/>
        </p:nvSpPr>
        <p:spPr>
          <a:xfrm>
            <a:off x="696254" y="37203447"/>
            <a:ext cx="14785564" cy="4571870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REFERÊNCIAS BIBLIOGRÁFICAS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</a:rPr>
              <a:t>1. </a:t>
            </a:r>
            <a:r>
              <a:rPr lang="pt-BR" sz="2400" dirty="0">
                <a:solidFill>
                  <a:schemeClr val="tx1"/>
                </a:solidFill>
              </a:rPr>
              <a:t>BIRD, Steven; KLEIN, Ewan; LOPER, Edward. </a:t>
            </a:r>
            <a:r>
              <a:rPr lang="pt-BR" sz="2400" b="1" dirty="0">
                <a:solidFill>
                  <a:schemeClr val="tx1"/>
                </a:solidFill>
              </a:rPr>
              <a:t>Natural Language Processing with Python</a:t>
            </a:r>
            <a:r>
              <a:rPr lang="pt-BR" sz="2400" dirty="0">
                <a:solidFill>
                  <a:schemeClr val="tx1"/>
                </a:solidFill>
              </a:rPr>
              <a:t>. O'Reilly Media, 2009.</a:t>
            </a:r>
            <a:endParaRPr lang="pt-BR" sz="24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24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</a:rPr>
              <a:t>2. </a:t>
            </a:r>
            <a:r>
              <a:rPr lang="en-US" sz="2400" dirty="0">
                <a:solidFill>
                  <a:schemeClr val="tx1"/>
                </a:solidFill>
              </a:rPr>
              <a:t>PEDREGOSA, F. et al. Scikit-learn: Machine Learning in Python. </a:t>
            </a:r>
            <a:r>
              <a:rPr lang="en-US" sz="2400" b="1" dirty="0">
                <a:solidFill>
                  <a:schemeClr val="tx1"/>
                </a:solidFill>
              </a:rPr>
              <a:t>Journal of Machine Learning Research</a:t>
            </a:r>
            <a:r>
              <a:rPr lang="en-US" sz="2400" dirty="0">
                <a:solidFill>
                  <a:schemeClr val="tx1"/>
                </a:solidFill>
              </a:rPr>
              <a:t>, v. 12, p. 2825-2830, 2011.</a:t>
            </a:r>
            <a:endParaRPr lang="pt-BR" sz="24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  <a:ea typeface="Calibri"/>
                <a:cs typeface="Calibri"/>
              </a:rPr>
              <a:t>3. </a:t>
            </a:r>
            <a:r>
              <a:rPr lang="en-US" sz="2400" dirty="0">
                <a:solidFill>
                  <a:schemeClr val="tx1"/>
                </a:solidFill>
              </a:rPr>
              <a:t>MANNING, C. D.; RAGHAVAN, P.; SCHÜTZE, H. </a:t>
            </a:r>
            <a:r>
              <a:rPr lang="en-US" sz="2400" b="1" dirty="0">
                <a:solidFill>
                  <a:schemeClr val="tx1"/>
                </a:solidFill>
              </a:rPr>
              <a:t>Introduction to Information Retrieval</a:t>
            </a:r>
            <a:r>
              <a:rPr lang="en-US" sz="2400" dirty="0">
                <a:solidFill>
                  <a:schemeClr val="tx1"/>
                </a:solidFill>
              </a:rPr>
              <a:t>. Cambridge University Press, 2008.</a:t>
            </a:r>
            <a:endParaRPr lang="pt-BR" sz="2400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6012876-1C84-8DE5-9B13-5905E424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34" y="1224436"/>
            <a:ext cx="10612836" cy="236892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28309E3-DEDC-7530-2A5F-0965232AA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0057" y="19008230"/>
            <a:ext cx="14185347" cy="58893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61806" y="4938696"/>
            <a:ext cx="30749932" cy="5790796"/>
          </a:xfrm>
        </p:spPr>
        <p:txBody>
          <a:bodyPr>
            <a:normAutofit fontScale="90000"/>
          </a:bodyPr>
          <a:lstStyle/>
          <a:p>
            <a:pPr hangingPunct="0"/>
            <a:r>
              <a:rPr lang="pt-BR" sz="9600" dirty="0"/>
              <a:t>Desenvolvimento de um </a:t>
            </a:r>
            <a:r>
              <a:rPr lang="pt-BR" sz="9600" dirty="0" err="1"/>
              <a:t>Chatbot</a:t>
            </a:r>
            <a:r>
              <a:rPr lang="pt-BR" sz="9600" dirty="0"/>
              <a:t> de Perguntas e Respostas sobre Zoologia Utilizando Processamento de Linguagem Natural (PLN)</a:t>
            </a:r>
            <a:br>
              <a:rPr lang="pt-BR" sz="5400" b="1" dirty="0"/>
            </a:br>
            <a:br>
              <a:rPr lang="pt-BR" sz="5400" dirty="0"/>
            </a:br>
            <a:r>
              <a:rPr lang="pt-BR" sz="4400" b="1" dirty="0"/>
              <a:t>Jean Nilson; Fábio Gonçalves; Daniel Mendonça; Mateus Bonfim; Adailton de Jesus Cerqueira Junior.</a:t>
            </a:r>
            <a:br>
              <a:rPr lang="pt-BR" sz="4400" b="1" dirty="0"/>
            </a:br>
            <a:br>
              <a:rPr lang="pt-BR" sz="4400" b="1" dirty="0"/>
            </a:br>
            <a:r>
              <a:rPr lang="pt-BR" sz="4400" dirty="0"/>
              <a:t>Universidade Salvador – Salvador – BA – Brasil</a:t>
            </a:r>
            <a:br>
              <a:rPr lang="pt-BR" sz="9600" dirty="0"/>
            </a:br>
            <a:endParaRPr lang="pt-BR" sz="44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37036E-6C0F-E47E-9013-1DEF418442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3990" y="26607121"/>
            <a:ext cx="8199340" cy="1059632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4FED5FA0-C883-747C-C28E-563B6135F6CA}"/>
              </a:ext>
            </a:extLst>
          </p:cNvPr>
          <p:cNvSpPr txBox="1"/>
          <p:nvPr/>
        </p:nvSpPr>
        <p:spPr>
          <a:xfrm>
            <a:off x="16490057" y="37660484"/>
            <a:ext cx="1433164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320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CONCLUSÃO</a:t>
            </a:r>
            <a:endParaRPr kumimoji="0" lang="pt-BR" sz="9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just" defTabSz="4320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Conclui-se que a aplicação de técnicas de Álgebra Linear (Vetores) e Estatística</a:t>
            </a:r>
          </a:p>
          <a:p>
            <a:pPr marL="0" marR="0" lvl="0" indent="0" algn="just" defTabSz="4320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(TF-IDF) é viável e eficiente para a criação de </a:t>
            </a:r>
            <a:r>
              <a:rPr kumimoji="0" lang="pt-BR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chatbots</a:t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domínio específico. A solução atendeu aos requisitos de funcionamento correto e criatividade, entregando um sistema que não apenas responde, mas evolui com o uso. O projeto consolidou o entendimento prático sobre como máquinas interpretam a linguagem humana através de representações matemáticas.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756</Words>
  <Application>Microsoft Office PowerPoint</Application>
  <PresentationFormat>Personalizados</PresentationFormat>
  <Paragraphs>68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Desenvolvimento de um Chatbot de Perguntas e Respostas sobre Zoologia Utilizando Processamento de Linguagem Natural (PLN)  Jean Nilson; Fábio Gonçalves; Daniel Mendonça; Mateus Bonfim; Adailton de Jesus Cerqueira Junior.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on the Beach 2011</dc:title>
  <dc:creator>Tristao</dc:creator>
  <cp:lastModifiedBy>Daniel Mendonça</cp:lastModifiedBy>
  <cp:revision>157</cp:revision>
  <dcterms:created xsi:type="dcterms:W3CDTF">2011-04-07T11:05:01Z</dcterms:created>
  <dcterms:modified xsi:type="dcterms:W3CDTF">2025-11-21T19:43:51Z</dcterms:modified>
</cp:coreProperties>
</file>